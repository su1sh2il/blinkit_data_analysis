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54085-C8E3-4D9C-AB50-2DE6F62BE4D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2EC5C-6404-46A9-B1D4-E66835BED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38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2EC5C-6404-46A9-B1D4-E66835BED94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6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235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93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7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1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28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0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39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53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9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17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164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117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70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98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749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10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35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C6363B5-1682-466A-988A-B95DBAC748B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7CA91B7-2CEB-4449-96FA-0B081534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23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CE70-35A6-D6ED-66A8-0B437377C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70700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err="1">
                <a:solidFill>
                  <a:schemeClr val="accent1"/>
                </a:solidFill>
              </a:rPr>
              <a:t>Blinkit</a:t>
            </a:r>
            <a:r>
              <a:rPr lang="en-IN" sz="4000" b="1" dirty="0">
                <a:solidFill>
                  <a:schemeClr val="accent1"/>
                </a:solidFill>
              </a:rPr>
              <a:t> 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92F6E-075B-7504-BBB3-D93DCCB0F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01278"/>
            <a:ext cx="9144000" cy="2771481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/>
              <a:t>BUSINESS REQUIREMEN</a:t>
            </a:r>
          </a:p>
          <a:p>
            <a:pPr algn="l"/>
            <a:r>
              <a:rPr lang="en-IN" sz="2000" b="1" dirty="0">
                <a:highlight>
                  <a:srgbClr val="FF00FF"/>
                </a:highlight>
              </a:rPr>
              <a:t>KPI’s Requirements</a:t>
            </a:r>
          </a:p>
          <a:p>
            <a:pPr marL="342900" indent="-342900" algn="l">
              <a:buAutoNum type="arabicPeriod"/>
            </a:pPr>
            <a:r>
              <a:rPr lang="en-US" sz="1800" b="1" dirty="0"/>
              <a:t>Total Sales: </a:t>
            </a:r>
            <a:r>
              <a:rPr lang="en-US" sz="1800" dirty="0"/>
              <a:t>The overall revenue generated from all items sold</a:t>
            </a:r>
            <a:r>
              <a:rPr lang="en-US" sz="1600" dirty="0"/>
              <a:t>.</a:t>
            </a:r>
          </a:p>
          <a:p>
            <a:pPr marL="342900" indent="-342900" algn="l">
              <a:buAutoNum type="arabicPeriod"/>
            </a:pPr>
            <a:r>
              <a:rPr lang="en-US" sz="1800" b="1" dirty="0"/>
              <a:t>Average Sales: </a:t>
            </a:r>
            <a:r>
              <a:rPr lang="en-US" sz="1800" dirty="0"/>
              <a:t>The average revenue per sale.</a:t>
            </a:r>
          </a:p>
          <a:p>
            <a:pPr marL="342900" indent="-342900" algn="l">
              <a:buAutoNum type="arabicPeriod"/>
            </a:pPr>
            <a:r>
              <a:rPr lang="en-US" sz="1800" b="1" dirty="0"/>
              <a:t>Number of Items: </a:t>
            </a:r>
            <a:r>
              <a:rPr lang="en-US" sz="1800" dirty="0"/>
              <a:t>The total count of different items sold.</a:t>
            </a:r>
          </a:p>
          <a:p>
            <a:pPr marL="342900" indent="-342900" algn="l">
              <a:buAutoNum type="arabicPeriod"/>
            </a:pPr>
            <a:r>
              <a:rPr lang="en-US" sz="1800" b="1" dirty="0"/>
              <a:t>Average Rating: </a:t>
            </a:r>
            <a:r>
              <a:rPr lang="en-US" sz="1800" dirty="0"/>
              <a:t>The average customer rating for items sold.</a:t>
            </a:r>
            <a:endParaRPr lang="en-IN" sz="1800" dirty="0">
              <a:highlight>
                <a:srgbClr val="FF00FF"/>
              </a:highlight>
            </a:endParaRPr>
          </a:p>
          <a:p>
            <a:pPr algn="l"/>
            <a:endParaRPr lang="en-IN" sz="1600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2313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A26497-1184-A33D-B1E8-937F46FF5020}"/>
              </a:ext>
            </a:extLst>
          </p:cNvPr>
          <p:cNvSpPr txBox="1"/>
          <p:nvPr/>
        </p:nvSpPr>
        <p:spPr>
          <a:xfrm>
            <a:off x="794208" y="579358"/>
            <a:ext cx="1031999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REQUIREMENT</a:t>
            </a:r>
            <a:endParaRPr lang="en-IN" b="1" dirty="0"/>
          </a:p>
          <a:p>
            <a:r>
              <a:rPr lang="en-IN" b="1" dirty="0">
                <a:highlight>
                  <a:srgbClr val="FF00FF"/>
                </a:highlight>
              </a:rPr>
              <a:t>Chart’s Requirements</a:t>
            </a:r>
          </a:p>
          <a:p>
            <a:endParaRPr lang="en-IN" b="1" dirty="0">
              <a:highlight>
                <a:srgbClr val="FF00FF"/>
              </a:highlight>
            </a:endParaRPr>
          </a:p>
          <a:p>
            <a:r>
              <a:rPr lang="en-US" b="1" dirty="0"/>
              <a:t>1. Total Sales by Fat Content:</a:t>
            </a:r>
          </a:p>
          <a:p>
            <a:r>
              <a:rPr lang="en-US" b="1" dirty="0"/>
              <a:t>Objective: </a:t>
            </a:r>
            <a:r>
              <a:rPr lang="en-US" dirty="0"/>
              <a:t>Analyze the impact of fat content on total sales.</a:t>
            </a:r>
          </a:p>
          <a:p>
            <a:r>
              <a:rPr lang="en-US" dirty="0"/>
              <a:t>Additional KPI Metrics: Assess how other KPIs (Average Sales, Number of Items, Average Rating) vary with fat content.</a:t>
            </a:r>
          </a:p>
          <a:p>
            <a:r>
              <a:rPr lang="en-US" b="1" dirty="0"/>
              <a:t>Chart Type: </a:t>
            </a:r>
            <a:r>
              <a:rPr lang="en-US" dirty="0"/>
              <a:t>Pie Chart.</a:t>
            </a:r>
          </a:p>
          <a:p>
            <a:endParaRPr lang="en-US" b="1" dirty="0"/>
          </a:p>
          <a:p>
            <a:r>
              <a:rPr lang="en-US" b="1" dirty="0"/>
              <a:t>2. Total Sales by Item Type:</a:t>
            </a:r>
          </a:p>
          <a:p>
            <a:r>
              <a:rPr lang="en-US" b="1" dirty="0"/>
              <a:t>Objective: </a:t>
            </a:r>
            <a:r>
              <a:rPr lang="en-US" dirty="0"/>
              <a:t>Identify the performance of different item types in terms of total sales.</a:t>
            </a:r>
          </a:p>
          <a:p>
            <a:r>
              <a:rPr lang="en-US" dirty="0"/>
              <a:t>Additional KPI Metrics: Assess how other KPIs (Average Sales, Number of Items, Average Rating) vary with fat content.</a:t>
            </a:r>
          </a:p>
          <a:p>
            <a:r>
              <a:rPr lang="en-US" dirty="0"/>
              <a:t>Chart Type: Bar Chart.</a:t>
            </a:r>
          </a:p>
          <a:p>
            <a:endParaRPr lang="en-US" b="1" dirty="0"/>
          </a:p>
          <a:p>
            <a:r>
              <a:rPr lang="en-US" b="1" dirty="0"/>
              <a:t>3. Fat Content by Outlet for Total Sales:</a:t>
            </a:r>
          </a:p>
          <a:p>
            <a:r>
              <a:rPr lang="en-US" b="1" dirty="0"/>
              <a:t>Objective: </a:t>
            </a:r>
            <a:r>
              <a:rPr lang="en-US" dirty="0"/>
              <a:t>Compare total sales across different outlets segmented by fat content.</a:t>
            </a:r>
          </a:p>
          <a:p>
            <a:r>
              <a:rPr lang="en-US" dirty="0"/>
              <a:t>Additional KPI Metrics: Assess how other KPIs (Average Sales, Number of Items, Average Rating) vary with fat content.</a:t>
            </a:r>
          </a:p>
          <a:p>
            <a:r>
              <a:rPr lang="en-US" b="1" dirty="0"/>
              <a:t>Chart Type: </a:t>
            </a:r>
            <a:r>
              <a:rPr lang="en-US" dirty="0"/>
              <a:t>Stacked Column Chart.</a:t>
            </a:r>
            <a:endParaRPr lang="en-IN" dirty="0">
              <a:highlight>
                <a:srgbClr val="FF00FF"/>
              </a:highlight>
            </a:endParaRPr>
          </a:p>
          <a:p>
            <a:endParaRPr lang="en-IN" b="1" dirty="0">
              <a:highlight>
                <a:srgbClr val="FF00FF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B84C4-79FF-9146-82C1-98207332D75A}"/>
              </a:ext>
            </a:extLst>
          </p:cNvPr>
          <p:cNvSpPr txBox="1"/>
          <p:nvPr/>
        </p:nvSpPr>
        <p:spPr>
          <a:xfrm>
            <a:off x="2557022" y="0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 err="1">
                <a:solidFill>
                  <a:schemeClr val="accent1"/>
                </a:solidFill>
              </a:rPr>
              <a:t>Blinkit</a:t>
            </a:r>
            <a:r>
              <a:rPr lang="en-IN" b="1" dirty="0">
                <a:solidFill>
                  <a:schemeClr val="accent1"/>
                </a:solidFill>
              </a:rPr>
              <a:t>  </a:t>
            </a:r>
            <a:r>
              <a:rPr lang="en-IN" sz="4000" b="1" dirty="0">
                <a:solidFill>
                  <a:schemeClr val="accent1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1040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593912-5D96-7500-A8E2-D1DCF53F5A5F}"/>
              </a:ext>
            </a:extLst>
          </p:cNvPr>
          <p:cNvSpPr txBox="1"/>
          <p:nvPr/>
        </p:nvSpPr>
        <p:spPr>
          <a:xfrm>
            <a:off x="2566448" y="0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 err="1">
                <a:solidFill>
                  <a:schemeClr val="accent1"/>
                </a:solidFill>
              </a:rPr>
              <a:t>Blinkit</a:t>
            </a:r>
            <a:r>
              <a:rPr lang="en-IN" sz="4000" b="1" dirty="0">
                <a:solidFill>
                  <a:schemeClr val="accent1"/>
                </a:solidFill>
              </a:rPr>
              <a:t>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13108-FF8D-A106-B262-895F3B557748}"/>
              </a:ext>
            </a:extLst>
          </p:cNvPr>
          <p:cNvSpPr txBox="1"/>
          <p:nvPr/>
        </p:nvSpPr>
        <p:spPr>
          <a:xfrm>
            <a:off x="605673" y="762090"/>
            <a:ext cx="108667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REQUIREMENT</a:t>
            </a:r>
          </a:p>
          <a:p>
            <a:r>
              <a:rPr lang="en-IN" sz="2400" b="1" dirty="0">
                <a:highlight>
                  <a:srgbClr val="FF00FF"/>
                </a:highlight>
              </a:rPr>
              <a:t>Chart’s Requirements</a:t>
            </a:r>
          </a:p>
          <a:p>
            <a:endParaRPr lang="en-IN" sz="2400" b="1" dirty="0">
              <a:highlight>
                <a:srgbClr val="FF00FF"/>
              </a:highlight>
            </a:endParaRPr>
          </a:p>
          <a:p>
            <a:r>
              <a:rPr lang="en-US" sz="2400" b="1" dirty="0"/>
              <a:t>4. Total Sales by Outlet Establishment:</a:t>
            </a:r>
          </a:p>
          <a:p>
            <a:r>
              <a:rPr lang="en-US" sz="2400" b="1" dirty="0"/>
              <a:t>Objective: </a:t>
            </a:r>
            <a:r>
              <a:rPr lang="en-US" sz="2400" dirty="0"/>
              <a:t>Evaluate how the age or type of outlet establishment influences total sales.</a:t>
            </a:r>
          </a:p>
          <a:p>
            <a:r>
              <a:rPr lang="en-US" sz="2400" b="1" dirty="0"/>
              <a:t>Chart Type: </a:t>
            </a:r>
            <a:r>
              <a:rPr lang="en-US" sz="2400" dirty="0"/>
              <a:t>Line Chart.</a:t>
            </a:r>
          </a:p>
          <a:p>
            <a:endParaRPr lang="en-US" sz="2400" b="1" dirty="0"/>
          </a:p>
          <a:p>
            <a:r>
              <a:rPr lang="en-US" sz="2400" b="1" dirty="0"/>
              <a:t>5. Sales by Outlet Size:</a:t>
            </a:r>
          </a:p>
          <a:p>
            <a:r>
              <a:rPr lang="en-US" sz="2400" b="1" dirty="0"/>
              <a:t>Objective: </a:t>
            </a:r>
            <a:r>
              <a:rPr lang="en-US" sz="2400" dirty="0"/>
              <a:t>Analyze the correlation between outlet size and total sales.</a:t>
            </a:r>
          </a:p>
          <a:p>
            <a:r>
              <a:rPr lang="en-US" sz="2400" b="1" dirty="0"/>
              <a:t>Chart Type: </a:t>
            </a:r>
            <a:r>
              <a:rPr lang="en-US" sz="2400" dirty="0"/>
              <a:t>Donut/ Pie Chart.</a:t>
            </a:r>
          </a:p>
          <a:p>
            <a:endParaRPr lang="en-US" sz="2400" b="1" dirty="0"/>
          </a:p>
          <a:p>
            <a:r>
              <a:rPr lang="en-US" sz="2400" b="1" dirty="0"/>
              <a:t>6. Sales by Outlet Location:</a:t>
            </a:r>
          </a:p>
          <a:p>
            <a:r>
              <a:rPr lang="en-US" sz="2400" b="1" dirty="0"/>
              <a:t>Objective: </a:t>
            </a:r>
            <a:r>
              <a:rPr lang="en-US" sz="2400" dirty="0"/>
              <a:t>Assess the geographic distribution of sales across different locations.</a:t>
            </a:r>
          </a:p>
          <a:p>
            <a:r>
              <a:rPr lang="en-US" sz="2400" b="1" dirty="0"/>
              <a:t>Chart Type: </a:t>
            </a:r>
            <a:r>
              <a:rPr lang="en-US" sz="2400" dirty="0"/>
              <a:t>Bar Chart</a:t>
            </a:r>
            <a:endParaRPr lang="en-IN" sz="2400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167704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29</TotalTime>
  <Words>300</Words>
  <Application>Microsoft Office PowerPoint</Application>
  <PresentationFormat>Widescreen</PresentationFormat>
  <Paragraphs>41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Corbel</vt:lpstr>
      <vt:lpstr>Depth</vt:lpstr>
      <vt:lpstr>Blinkit 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kumar</dc:creator>
  <cp:lastModifiedBy>Sushil kumar</cp:lastModifiedBy>
  <cp:revision>1</cp:revision>
  <dcterms:created xsi:type="dcterms:W3CDTF">2026-04-27T11:03:22Z</dcterms:created>
  <dcterms:modified xsi:type="dcterms:W3CDTF">2026-04-27T11:32:44Z</dcterms:modified>
</cp:coreProperties>
</file>